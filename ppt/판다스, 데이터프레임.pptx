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77" d="100"/>
          <a:sy n="77" d="100"/>
        </p:scale>
        <p:origin x="68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EAEE6F-A64C-4538-BF9B-E02DF826577C}" type="datetimeFigureOut">
              <a:rPr lang="ko-KR" altLang="en-US" smtClean="0"/>
              <a:t>2025-09-18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0867E8-AB4E-431A-9BBB-B3A9F2BAA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599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99987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78087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88749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71345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41599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75988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11871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2382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90670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36826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94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45403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45522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47279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07452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18381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53005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93909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480748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77070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908283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301227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11955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62564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953798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880966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980536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607581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70335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30A8D-1E19-4572-AAA9-FF645AACD12C}" type="datetimeFigureOut">
              <a:rPr lang="ko-KR" altLang="en-US" smtClean="0"/>
              <a:t>2025-09-18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5282D-85A6-4C7D-8E6A-EA9FF4EAD3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8396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30A8D-1E19-4572-AAA9-FF645AACD12C}" type="datetimeFigureOut">
              <a:rPr lang="ko-KR" altLang="en-US" smtClean="0"/>
              <a:t>2025-09-18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5282D-85A6-4C7D-8E6A-EA9FF4EAD3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328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30A8D-1E19-4572-AAA9-FF645AACD12C}" type="datetimeFigureOut">
              <a:rPr lang="ko-KR" altLang="en-US" smtClean="0"/>
              <a:t>2025-09-18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5282D-85A6-4C7D-8E6A-EA9FF4EAD3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4576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30A8D-1E19-4572-AAA9-FF645AACD12C}" type="datetimeFigureOut">
              <a:rPr lang="ko-KR" altLang="en-US" smtClean="0"/>
              <a:t>2025-09-18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5282D-85A6-4C7D-8E6A-EA9FF4EAD3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2384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30A8D-1E19-4572-AAA9-FF645AACD12C}" type="datetimeFigureOut">
              <a:rPr lang="ko-KR" altLang="en-US" smtClean="0"/>
              <a:t>2025-09-18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5282D-85A6-4C7D-8E6A-EA9FF4EAD3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2269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30A8D-1E19-4572-AAA9-FF645AACD12C}" type="datetimeFigureOut">
              <a:rPr lang="ko-KR" altLang="en-US" smtClean="0"/>
              <a:t>2025-09-18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5282D-85A6-4C7D-8E6A-EA9FF4EAD3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0416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30A8D-1E19-4572-AAA9-FF645AACD12C}" type="datetimeFigureOut">
              <a:rPr lang="ko-KR" altLang="en-US" smtClean="0"/>
              <a:t>2025-09-18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5282D-85A6-4C7D-8E6A-EA9FF4EAD3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7254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30A8D-1E19-4572-AAA9-FF645AACD12C}" type="datetimeFigureOut">
              <a:rPr lang="ko-KR" altLang="en-US" smtClean="0"/>
              <a:t>2025-09-18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5282D-85A6-4C7D-8E6A-EA9FF4EAD3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9316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30A8D-1E19-4572-AAA9-FF645AACD12C}" type="datetimeFigureOut">
              <a:rPr lang="ko-KR" altLang="en-US" smtClean="0"/>
              <a:t>2025-09-18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5282D-85A6-4C7D-8E6A-EA9FF4EAD3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0630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30A8D-1E19-4572-AAA9-FF645AACD12C}" type="datetimeFigureOut">
              <a:rPr lang="ko-KR" altLang="en-US" smtClean="0"/>
              <a:t>2025-09-18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5282D-85A6-4C7D-8E6A-EA9FF4EAD3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97410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30A8D-1E19-4572-AAA9-FF645AACD12C}" type="datetimeFigureOut">
              <a:rPr lang="ko-KR" altLang="en-US" smtClean="0"/>
              <a:t>2025-09-18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5282D-85A6-4C7D-8E6A-EA9FF4EAD3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5574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230A8D-1E19-4572-AAA9-FF645AACD12C}" type="datetimeFigureOut">
              <a:rPr lang="ko-KR" altLang="en-US" smtClean="0"/>
              <a:t>2025-09-18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A5282D-85A6-4C7D-8E6A-EA9FF4EAD3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383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err="1" smtClean="0"/>
              <a:t>판다스</a:t>
            </a:r>
            <a:r>
              <a:rPr lang="en-US" altLang="ko-KR" dirty="0" smtClean="0"/>
              <a:t>, </a:t>
            </a:r>
            <a:r>
              <a:rPr lang="ko-KR" altLang="en-US" dirty="0" smtClean="0"/>
              <a:t>데이터프레임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00440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5591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1775521" y="271682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519936" y="479096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09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88088" y="271682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판다스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넘파이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맷플롭립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063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판다스</a:t>
            </a:r>
            <a:r>
              <a:rPr lang="en-US" altLang="ko-KR" sz="2300" dirty="0"/>
              <a:t>(Pandas) – </a:t>
            </a:r>
            <a:r>
              <a:rPr lang="ko-KR" altLang="en-US" sz="2300" dirty="0"/>
              <a:t>데이터프레임</a:t>
            </a:r>
            <a:r>
              <a:rPr lang="en-US" altLang="ko-KR" sz="2300" dirty="0"/>
              <a:t>(</a:t>
            </a:r>
            <a:r>
              <a:rPr lang="en-US" altLang="ko-KR" sz="2300" dirty="0" err="1"/>
              <a:t>DataFrame</a:t>
            </a:r>
            <a:r>
              <a:rPr lang="en-US" altLang="ko-KR" sz="2300" dirty="0"/>
              <a:t>)</a:t>
            </a:r>
            <a:endParaRPr lang="ko-KR" altLang="en-US" sz="2300" dirty="0"/>
          </a:p>
        </p:txBody>
      </p:sp>
      <p:sp>
        <p:nvSpPr>
          <p:cNvPr id="13" name="TextBox 12"/>
          <p:cNvSpPr txBox="1"/>
          <p:nvPr/>
        </p:nvSpPr>
        <p:spPr>
          <a:xfrm>
            <a:off x="2495600" y="1700955"/>
            <a:ext cx="7200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스리즈는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  <a:r>
              <a:rPr lang="ko-KR" altLang="en-US" dirty="0"/>
              <a:t>차원 배열이면 데이터프레임은 </a:t>
            </a:r>
            <a:r>
              <a:rPr lang="en-US" altLang="ko-KR" dirty="0"/>
              <a:t>2</a:t>
            </a:r>
            <a:r>
              <a:rPr lang="ko-KR" altLang="en-US" dirty="0"/>
              <a:t>차원 리스트이다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2</a:t>
            </a:r>
            <a:r>
              <a:rPr lang="ko-KR" altLang="en-US" dirty="0"/>
              <a:t>차원이므로 </a:t>
            </a:r>
            <a:r>
              <a:rPr lang="ko-KR" altLang="en-US" dirty="0" err="1"/>
              <a:t>행방향의</a:t>
            </a:r>
            <a:r>
              <a:rPr lang="ko-KR" altLang="en-US" dirty="0"/>
              <a:t> 인덱스와 </a:t>
            </a:r>
            <a:r>
              <a:rPr lang="ko-KR" altLang="en-US" dirty="0" err="1"/>
              <a:t>열방향의</a:t>
            </a:r>
            <a:r>
              <a:rPr lang="ko-KR" altLang="en-US" dirty="0"/>
              <a:t> 인덱스가 존재한다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쉽게 말하면 행렬의 구조와 같다</a:t>
            </a:r>
            <a:r>
              <a:rPr lang="en-US" altLang="ko-KR" dirty="0"/>
              <a:t>. 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6551" y="2793228"/>
            <a:ext cx="8298899" cy="3063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359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5591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1775521" y="271682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519936" y="479096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09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88088" y="271682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판다스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넘파이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맷플롭립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063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판다스</a:t>
            </a:r>
            <a:r>
              <a:rPr lang="en-US" altLang="ko-KR" sz="2300" dirty="0"/>
              <a:t>(Pandas) – </a:t>
            </a:r>
            <a:r>
              <a:rPr lang="ko-KR" altLang="en-US" sz="2300" dirty="0"/>
              <a:t>데이터프레임</a:t>
            </a:r>
            <a:r>
              <a:rPr lang="en-US" altLang="ko-KR" sz="2300" dirty="0"/>
              <a:t>(</a:t>
            </a:r>
            <a:r>
              <a:rPr lang="en-US" altLang="ko-KR" sz="2300" dirty="0" err="1"/>
              <a:t>DataFrame</a:t>
            </a:r>
            <a:r>
              <a:rPr lang="en-US" altLang="ko-KR" sz="2300" dirty="0"/>
              <a:t>)</a:t>
            </a:r>
            <a:endParaRPr lang="ko-KR" altLang="en-US" sz="2300" dirty="0"/>
          </a:p>
        </p:txBody>
      </p:sp>
      <p:sp>
        <p:nvSpPr>
          <p:cNvPr id="13" name="TextBox 12"/>
          <p:cNvSpPr txBox="1"/>
          <p:nvPr/>
        </p:nvSpPr>
        <p:spPr>
          <a:xfrm>
            <a:off x="2495600" y="1700956"/>
            <a:ext cx="720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데이터프레임도 </a:t>
            </a:r>
            <a:r>
              <a:rPr lang="ko-KR" altLang="en-US" dirty="0" err="1"/>
              <a:t>스리즈와</a:t>
            </a:r>
            <a:r>
              <a:rPr lang="ko-KR" altLang="en-US" dirty="0"/>
              <a:t> 마찬가지로 값과 인덱스 값을 따로 출력이 가능하다</a:t>
            </a:r>
            <a:r>
              <a:rPr lang="en-US" altLang="ko-KR" dirty="0"/>
              <a:t>. 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5602" y="2708921"/>
            <a:ext cx="8260796" cy="2499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0348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5591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1775521" y="271682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519936" y="479096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09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88088" y="271682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판다스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넘파이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맷플롭립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063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판다스</a:t>
            </a:r>
            <a:r>
              <a:rPr lang="en-US" altLang="ko-KR" sz="2300" dirty="0"/>
              <a:t>(Pandas) – </a:t>
            </a:r>
            <a:r>
              <a:rPr lang="ko-KR" altLang="en-US" sz="2300" dirty="0"/>
              <a:t>데이터프레임</a:t>
            </a:r>
            <a:r>
              <a:rPr lang="en-US" altLang="ko-KR" sz="2300" dirty="0"/>
              <a:t>(</a:t>
            </a:r>
            <a:r>
              <a:rPr lang="en-US" altLang="ko-KR" sz="2300" dirty="0" err="1"/>
              <a:t>DataFrame</a:t>
            </a:r>
            <a:r>
              <a:rPr lang="en-US" altLang="ko-KR" sz="2300" dirty="0"/>
              <a:t>)</a:t>
            </a:r>
            <a:endParaRPr lang="ko-KR" altLang="en-US" sz="2300" dirty="0"/>
          </a:p>
        </p:txBody>
      </p:sp>
      <p:sp>
        <p:nvSpPr>
          <p:cNvPr id="13" name="TextBox 12"/>
          <p:cNvSpPr txBox="1"/>
          <p:nvPr/>
        </p:nvSpPr>
        <p:spPr>
          <a:xfrm>
            <a:off x="2495600" y="1700956"/>
            <a:ext cx="72008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데이터프레임은 앞에서 배운 </a:t>
            </a:r>
            <a:r>
              <a:rPr lang="ko-KR" altLang="en-US" dirty="0" err="1"/>
              <a:t>데이터형</a:t>
            </a:r>
            <a:r>
              <a:rPr lang="ko-KR" altLang="en-US" dirty="0"/>
              <a:t> 리스트와 </a:t>
            </a:r>
            <a:r>
              <a:rPr lang="ko-KR" altLang="en-US" dirty="0" err="1"/>
              <a:t>딕셔너리를</a:t>
            </a:r>
            <a:r>
              <a:rPr lang="ko-KR" altLang="en-US" dirty="0"/>
              <a:t> 이용하여 </a:t>
            </a:r>
            <a:r>
              <a:rPr lang="en-US" altLang="ko-KR" dirty="0"/>
              <a:t> </a:t>
            </a:r>
            <a:r>
              <a:rPr lang="ko-KR" altLang="en-US" dirty="0"/>
              <a:t>데이터프레임을 생성할 수 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가장 기본적인 형태로 인덱스 값들을 지정하지 않았기 때문에 자동으로 </a:t>
            </a:r>
            <a:r>
              <a:rPr lang="en-US" altLang="ko-KR" dirty="0"/>
              <a:t>0,1,2.... </a:t>
            </a:r>
            <a:r>
              <a:rPr lang="ko-KR" altLang="en-US" dirty="0"/>
              <a:t>로 지정된다</a:t>
            </a:r>
            <a:r>
              <a:rPr lang="en-US" altLang="ko-KR" dirty="0"/>
              <a:t>. 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0844" y="2420889"/>
            <a:ext cx="8230313" cy="2964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554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5591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1775521" y="271682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519936" y="479096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09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88088" y="271682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판다스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넘파이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맷플롭립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063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판다스</a:t>
            </a:r>
            <a:r>
              <a:rPr lang="en-US" altLang="ko-KR" sz="2300" dirty="0"/>
              <a:t>(Pandas) – </a:t>
            </a:r>
            <a:r>
              <a:rPr lang="ko-KR" altLang="en-US" sz="2300" dirty="0"/>
              <a:t>데이터프레임</a:t>
            </a:r>
            <a:r>
              <a:rPr lang="en-US" altLang="ko-KR" sz="2300" dirty="0"/>
              <a:t>(</a:t>
            </a:r>
            <a:r>
              <a:rPr lang="en-US" altLang="ko-KR" sz="2300" dirty="0" err="1"/>
              <a:t>DataFrame</a:t>
            </a:r>
            <a:r>
              <a:rPr lang="en-US" altLang="ko-KR" sz="2300" dirty="0"/>
              <a:t>)</a:t>
            </a:r>
            <a:endParaRPr lang="ko-KR" altLang="en-US" sz="2300" dirty="0"/>
          </a:p>
        </p:txBody>
      </p:sp>
      <p:sp>
        <p:nvSpPr>
          <p:cNvPr id="13" name="TextBox 12"/>
          <p:cNvSpPr txBox="1"/>
          <p:nvPr/>
        </p:nvSpPr>
        <p:spPr>
          <a:xfrm>
            <a:off x="2495600" y="1700955"/>
            <a:ext cx="720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행이나 열의 값을 지정할 수 있다</a:t>
            </a:r>
            <a:r>
              <a:rPr lang="en-US" altLang="ko-KR" dirty="0"/>
              <a:t>. 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8930" y="2746418"/>
            <a:ext cx="8314140" cy="219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340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5591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1775521" y="271682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519936" y="479096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09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88088" y="271682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판다스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넘파이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맷플롭립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063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판다스</a:t>
            </a:r>
            <a:r>
              <a:rPr lang="en-US" altLang="ko-KR" sz="2300" dirty="0"/>
              <a:t>(Pandas) – </a:t>
            </a:r>
            <a:r>
              <a:rPr lang="ko-KR" altLang="en-US" sz="2300" dirty="0"/>
              <a:t>데이터프레임</a:t>
            </a:r>
            <a:r>
              <a:rPr lang="en-US" altLang="ko-KR" sz="2300" dirty="0"/>
              <a:t>(</a:t>
            </a:r>
            <a:r>
              <a:rPr lang="en-US" altLang="ko-KR" sz="2300" dirty="0" err="1"/>
              <a:t>DataFrame</a:t>
            </a:r>
            <a:r>
              <a:rPr lang="en-US" altLang="ko-KR" sz="2300" dirty="0"/>
              <a:t>)</a:t>
            </a:r>
            <a:endParaRPr lang="ko-KR" altLang="en-US" sz="2300" dirty="0"/>
          </a:p>
        </p:txBody>
      </p:sp>
      <p:sp>
        <p:nvSpPr>
          <p:cNvPr id="13" name="TextBox 12"/>
          <p:cNvSpPr txBox="1"/>
          <p:nvPr/>
        </p:nvSpPr>
        <p:spPr>
          <a:xfrm>
            <a:off x="2495600" y="1700956"/>
            <a:ext cx="720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데이터형</a:t>
            </a:r>
            <a:r>
              <a:rPr lang="ko-KR" altLang="en-US" dirty="0"/>
              <a:t> </a:t>
            </a:r>
            <a:r>
              <a:rPr lang="ko-KR" altLang="en-US" dirty="0" err="1"/>
              <a:t>딕셔너리형은</a:t>
            </a:r>
            <a:r>
              <a:rPr lang="ko-KR" altLang="en-US" dirty="0"/>
              <a:t> </a:t>
            </a:r>
            <a:r>
              <a:rPr lang="en-US" altLang="ko-KR" dirty="0"/>
              <a:t>key : value </a:t>
            </a:r>
            <a:r>
              <a:rPr lang="ko-KR" altLang="en-US" dirty="0"/>
              <a:t>로 데이터가 </a:t>
            </a:r>
            <a:r>
              <a:rPr lang="ko-KR" altLang="en-US" dirty="0" err="1"/>
              <a:t>구성되어있기때문에</a:t>
            </a:r>
            <a:r>
              <a:rPr lang="ko-KR" altLang="en-US" dirty="0"/>
              <a:t> </a:t>
            </a:r>
            <a:r>
              <a:rPr lang="en-US" altLang="ko-KR" dirty="0"/>
              <a:t>key</a:t>
            </a:r>
            <a:r>
              <a:rPr lang="ko-KR" altLang="en-US" dirty="0"/>
              <a:t>의 값이 </a:t>
            </a:r>
            <a:r>
              <a:rPr lang="en-US" altLang="ko-KR" dirty="0"/>
              <a:t>columns</a:t>
            </a:r>
            <a:r>
              <a:rPr lang="ko-KR" altLang="en-US" dirty="0"/>
              <a:t>의 값으로 지정이 된다</a:t>
            </a:r>
            <a:r>
              <a:rPr lang="en-US" altLang="ko-KR" dirty="0"/>
              <a:t>. 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3223" y="2492897"/>
            <a:ext cx="8245555" cy="3497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1607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5591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1775521" y="271682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519936" y="479096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09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88088" y="271682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판다스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넘파이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맷플롭립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063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판다스</a:t>
            </a:r>
            <a:r>
              <a:rPr lang="en-US" altLang="ko-KR" sz="2300" dirty="0"/>
              <a:t>(Pandas) – </a:t>
            </a:r>
            <a:r>
              <a:rPr lang="ko-KR" altLang="en-US" sz="2300" dirty="0"/>
              <a:t>데이터프레임</a:t>
            </a:r>
            <a:r>
              <a:rPr lang="en-US" altLang="ko-KR" sz="2300" dirty="0"/>
              <a:t>(</a:t>
            </a:r>
            <a:r>
              <a:rPr lang="en-US" altLang="ko-KR" sz="2300" dirty="0" err="1"/>
              <a:t>DataFrame</a:t>
            </a:r>
            <a:r>
              <a:rPr lang="en-US" altLang="ko-KR" sz="2300" dirty="0"/>
              <a:t>) </a:t>
            </a:r>
            <a:r>
              <a:rPr lang="ko-KR" altLang="en-US" sz="2300" dirty="0"/>
              <a:t>조회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95600" y="1700956"/>
            <a:ext cx="7200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판다스에서는</a:t>
            </a:r>
            <a:r>
              <a:rPr lang="ko-KR" altLang="en-US" dirty="0"/>
              <a:t> 데이터프레임에서 원하는 구간만 조회가 가능하다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en-US" altLang="ko-KR" dirty="0"/>
              <a:t>	</a:t>
            </a:r>
            <a:r>
              <a:rPr lang="ko-KR" altLang="en-US" dirty="0" err="1"/>
              <a:t>데이터프레임명</a:t>
            </a:r>
            <a:r>
              <a:rPr lang="en-US" altLang="ko-KR" dirty="0"/>
              <a:t>.head(n)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앞 부분을 </a:t>
            </a:r>
            <a:r>
              <a:rPr lang="en-US" altLang="ko-KR" dirty="0">
                <a:sym typeface="Wingdings" panose="05000000000000000000" pitchFamily="2" charset="2"/>
              </a:rPr>
              <a:t>n</a:t>
            </a:r>
            <a:r>
              <a:rPr lang="ko-KR" altLang="en-US" dirty="0">
                <a:sym typeface="Wingdings" panose="05000000000000000000" pitchFamily="2" charset="2"/>
              </a:rPr>
              <a:t>개만 출력</a:t>
            </a:r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>
                <a:sym typeface="Wingdings" panose="05000000000000000000" pitchFamily="2" charset="2"/>
              </a:rPr>
              <a:t>	</a:t>
            </a:r>
            <a:r>
              <a:rPr lang="ko-KR" altLang="en-US" dirty="0" err="1">
                <a:sym typeface="Wingdings" panose="05000000000000000000" pitchFamily="2" charset="2"/>
              </a:rPr>
              <a:t>데이터프레임명</a:t>
            </a:r>
            <a:r>
              <a:rPr lang="en-US" altLang="ko-KR" dirty="0">
                <a:sym typeface="Wingdings" panose="05000000000000000000" pitchFamily="2" charset="2"/>
              </a:rPr>
              <a:t>.tail(n)  </a:t>
            </a:r>
            <a:r>
              <a:rPr lang="ko-KR" altLang="en-US" dirty="0" err="1">
                <a:sym typeface="Wingdings" panose="05000000000000000000" pitchFamily="2" charset="2"/>
              </a:rPr>
              <a:t>뒷</a:t>
            </a:r>
            <a:r>
              <a:rPr lang="ko-KR" altLang="en-US" dirty="0">
                <a:sym typeface="Wingdings" panose="05000000000000000000" pitchFamily="2" charset="2"/>
              </a:rPr>
              <a:t> 부분을 </a:t>
            </a:r>
            <a:r>
              <a:rPr lang="en-US" altLang="ko-KR" dirty="0">
                <a:sym typeface="Wingdings" panose="05000000000000000000" pitchFamily="2" charset="2"/>
              </a:rPr>
              <a:t>n</a:t>
            </a:r>
            <a:r>
              <a:rPr lang="ko-KR" altLang="en-US" dirty="0">
                <a:sym typeface="Wingdings" panose="05000000000000000000" pitchFamily="2" charset="2"/>
              </a:rPr>
              <a:t>개만 출력</a:t>
            </a:r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>
                <a:sym typeface="Wingdings" panose="05000000000000000000" pitchFamily="2" charset="2"/>
              </a:rPr>
              <a:t>	</a:t>
            </a:r>
            <a:r>
              <a:rPr lang="ko-KR" altLang="en-US" dirty="0" err="1">
                <a:sym typeface="Wingdings" panose="05000000000000000000" pitchFamily="2" charset="2"/>
              </a:rPr>
              <a:t>데이터프레임명</a:t>
            </a:r>
            <a:r>
              <a:rPr lang="en-US" altLang="ko-KR" dirty="0">
                <a:sym typeface="Wingdings" panose="05000000000000000000" pitchFamily="2" charset="2"/>
              </a:rPr>
              <a:t>[‘</a:t>
            </a:r>
            <a:r>
              <a:rPr lang="ko-KR" altLang="en-US" dirty="0">
                <a:sym typeface="Wingdings" panose="05000000000000000000" pitchFamily="2" charset="2"/>
              </a:rPr>
              <a:t>열 이름</a:t>
            </a:r>
            <a:r>
              <a:rPr lang="en-US" altLang="ko-KR" dirty="0">
                <a:sym typeface="Wingdings" panose="05000000000000000000" pitchFamily="2" charset="2"/>
              </a:rPr>
              <a:t>‘]  </a:t>
            </a:r>
            <a:r>
              <a:rPr lang="ko-KR" altLang="en-US" dirty="0">
                <a:sym typeface="Wingdings" panose="05000000000000000000" pitchFamily="2" charset="2"/>
              </a:rPr>
              <a:t>해당되는 열의 값만 출력</a:t>
            </a:r>
            <a:endParaRPr lang="en-US" altLang="ko-KR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9927290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5591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1775521" y="271682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519936" y="479096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09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88088" y="271682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판다스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넘파이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맷플롭립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063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판다스</a:t>
            </a:r>
            <a:r>
              <a:rPr lang="en-US" altLang="ko-KR" sz="2300" dirty="0"/>
              <a:t>(Pandas) – </a:t>
            </a:r>
            <a:r>
              <a:rPr lang="ko-KR" altLang="en-US" sz="2300" dirty="0"/>
              <a:t>데이터프레임</a:t>
            </a:r>
            <a:r>
              <a:rPr lang="en-US" altLang="ko-KR" sz="2300" dirty="0"/>
              <a:t>(</a:t>
            </a:r>
            <a:r>
              <a:rPr lang="en-US" altLang="ko-KR" sz="2300" dirty="0" err="1"/>
              <a:t>DataFrame</a:t>
            </a:r>
            <a:r>
              <a:rPr lang="en-US" altLang="ko-KR" sz="2300" dirty="0"/>
              <a:t>) </a:t>
            </a:r>
            <a:r>
              <a:rPr lang="ko-KR" altLang="en-US" sz="2300" dirty="0"/>
              <a:t>조회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9476" y="1555186"/>
            <a:ext cx="7481041" cy="5042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997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5591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1775521" y="271682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519936" y="479096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09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88088" y="271682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판다스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넘파이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맷플롭립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063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판다스</a:t>
            </a:r>
            <a:r>
              <a:rPr lang="en-US" altLang="ko-KR" sz="2300" dirty="0"/>
              <a:t>(Pandas) – </a:t>
            </a:r>
            <a:r>
              <a:rPr lang="ko-KR" altLang="en-US" sz="2300" dirty="0"/>
              <a:t>데이터프레임</a:t>
            </a:r>
            <a:r>
              <a:rPr lang="en-US" altLang="ko-KR" sz="2300" dirty="0"/>
              <a:t>(</a:t>
            </a:r>
            <a:r>
              <a:rPr lang="en-US" altLang="ko-KR" sz="2300" dirty="0" err="1"/>
              <a:t>DataFrame</a:t>
            </a:r>
            <a:r>
              <a:rPr lang="en-US" altLang="ko-KR" sz="2300" dirty="0"/>
              <a:t>) </a:t>
            </a:r>
            <a:endParaRPr lang="ko-KR" altLang="en-US" sz="2300" dirty="0"/>
          </a:p>
        </p:txBody>
      </p:sp>
      <p:sp>
        <p:nvSpPr>
          <p:cNvPr id="13" name="TextBox 12"/>
          <p:cNvSpPr txBox="1"/>
          <p:nvPr/>
        </p:nvSpPr>
        <p:spPr>
          <a:xfrm>
            <a:off x="2495600" y="1700955"/>
            <a:ext cx="7200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판다스는</a:t>
            </a:r>
            <a:r>
              <a:rPr lang="ko-KR" altLang="en-US" dirty="0"/>
              <a:t> 이렇게 데이터를 데이터프레임으로 생성할 수 있지만 외부의 데이터 파일</a:t>
            </a:r>
            <a:r>
              <a:rPr lang="en-US" altLang="ko-KR" dirty="0"/>
              <a:t>(csv, text, Excel, SQL, JSON)</a:t>
            </a:r>
            <a:r>
              <a:rPr lang="ko-KR" altLang="en-US" dirty="0"/>
              <a:t>을 읽어서 데이터프레임으로 생성할 수 있다</a:t>
            </a:r>
            <a:r>
              <a:rPr lang="en-US" altLang="ko-KR" dirty="0"/>
              <a:t>. 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9492" y="2624286"/>
            <a:ext cx="7661009" cy="3757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7653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5591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1775521" y="271682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519936" y="479096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09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88088" y="271682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판다스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넘파이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맷플롭립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063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넘파이</a:t>
            </a:r>
            <a:r>
              <a:rPr lang="en-US" altLang="ko-KR" sz="2300" dirty="0"/>
              <a:t>(</a:t>
            </a:r>
            <a:r>
              <a:rPr lang="en-US" altLang="ko-KR" sz="2300" dirty="0" err="1"/>
              <a:t>Numpy</a:t>
            </a:r>
            <a:r>
              <a:rPr lang="en-US" altLang="ko-KR" sz="2300" dirty="0"/>
              <a:t>) – </a:t>
            </a:r>
            <a:r>
              <a:rPr lang="en-US" altLang="ko-KR" sz="2300" dirty="0" err="1"/>
              <a:t>random.random</a:t>
            </a:r>
            <a:r>
              <a:rPr lang="en-US" altLang="ko-KR" sz="2300" dirty="0"/>
              <a:t>()</a:t>
            </a:r>
            <a:endParaRPr lang="ko-KR" altLang="en-US" sz="2300" dirty="0"/>
          </a:p>
        </p:txBody>
      </p:sp>
      <p:sp>
        <p:nvSpPr>
          <p:cNvPr id="10" name="TextBox 9"/>
          <p:cNvSpPr txBox="1"/>
          <p:nvPr/>
        </p:nvSpPr>
        <p:spPr>
          <a:xfrm>
            <a:off x="2495600" y="1700955"/>
            <a:ext cx="720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>
                <a:sym typeface="Wingdings" panose="05000000000000000000" pitchFamily="2" charset="2"/>
              </a:rPr>
              <a:t>random.random</a:t>
            </a:r>
            <a:r>
              <a:rPr lang="en-US" altLang="ko-KR" dirty="0">
                <a:sym typeface="Wingdings" panose="05000000000000000000" pitchFamily="2" charset="2"/>
              </a:rPr>
              <a:t>()</a:t>
            </a:r>
            <a:r>
              <a:rPr lang="ko-KR" altLang="en-US" dirty="0">
                <a:sym typeface="Wingdings" panose="05000000000000000000" pitchFamily="2" charset="2"/>
              </a:rPr>
              <a:t>은 임의의 값을 원소로 하여 행렬을 생성한다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2740" y="2598348"/>
            <a:ext cx="8306520" cy="1661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6228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5591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1775521" y="271682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519936" y="479096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09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88088" y="271682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판다스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넘파이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맷플롭립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063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맷플롯립</a:t>
            </a:r>
            <a:r>
              <a:rPr lang="en-US" altLang="ko-KR" sz="2300" dirty="0"/>
              <a:t>(</a:t>
            </a:r>
            <a:r>
              <a:rPr lang="en-US" altLang="ko-KR" sz="2300" dirty="0" err="1"/>
              <a:t>Matplotlib</a:t>
            </a:r>
            <a:r>
              <a:rPr lang="en-US" altLang="ko-KR" sz="2300" dirty="0"/>
              <a:t>)</a:t>
            </a:r>
            <a:endParaRPr lang="ko-KR" altLang="en-US" sz="2300" dirty="0"/>
          </a:p>
        </p:txBody>
      </p:sp>
      <p:sp>
        <p:nvSpPr>
          <p:cNvPr id="13" name="TextBox 12"/>
          <p:cNvSpPr txBox="1"/>
          <p:nvPr/>
        </p:nvSpPr>
        <p:spPr>
          <a:xfrm>
            <a:off x="2495600" y="1700956"/>
            <a:ext cx="7200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>
                <a:sym typeface="Wingdings" panose="05000000000000000000" pitchFamily="2" charset="2"/>
              </a:rPr>
              <a:t>맷플롯립은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ko-KR" altLang="en-US" dirty="0" err="1">
                <a:sym typeface="Wingdings" panose="05000000000000000000" pitchFamily="2" charset="2"/>
              </a:rPr>
              <a:t>파이썬에서</a:t>
            </a:r>
            <a:r>
              <a:rPr lang="ko-KR" altLang="en-US" dirty="0">
                <a:sym typeface="Wingdings" panose="05000000000000000000" pitchFamily="2" charset="2"/>
              </a:rPr>
              <a:t> 데이터를 </a:t>
            </a:r>
            <a:r>
              <a:rPr lang="ko-KR" altLang="en-US" dirty="0" err="1">
                <a:sym typeface="Wingdings" panose="05000000000000000000" pitchFamily="2" charset="2"/>
              </a:rPr>
              <a:t>챠트나</a:t>
            </a:r>
            <a:r>
              <a:rPr lang="ko-KR" altLang="en-US" dirty="0">
                <a:sym typeface="Wingdings" panose="05000000000000000000" pitchFamily="2" charset="2"/>
              </a:rPr>
              <a:t> 플롯</a:t>
            </a:r>
            <a:r>
              <a:rPr lang="en-US" altLang="ko-KR" dirty="0">
                <a:sym typeface="Wingdings" panose="05000000000000000000" pitchFamily="2" charset="2"/>
              </a:rPr>
              <a:t>(plot)</a:t>
            </a:r>
            <a:r>
              <a:rPr lang="ko-KR" altLang="en-US" dirty="0">
                <a:sym typeface="Wingdings" panose="05000000000000000000" pitchFamily="2" charset="2"/>
              </a:rPr>
              <a:t>으로 그려주는 라이브러리이다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  <a:r>
              <a:rPr lang="ko-KR" altLang="en-US" dirty="0">
                <a:sym typeface="Wingdings" panose="05000000000000000000" pitchFamily="2" charset="2"/>
              </a:rPr>
              <a:t>흔히 데이터 시각화 패키지로 </a:t>
            </a:r>
            <a:r>
              <a:rPr lang="ko-KR" altLang="en-US" dirty="0" err="1">
                <a:sym typeface="Wingdings" panose="05000000000000000000" pitchFamily="2" charset="2"/>
              </a:rPr>
              <a:t>알려져있다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>
                <a:sym typeface="Wingdings" panose="05000000000000000000" pitchFamily="2" charset="2"/>
              </a:rPr>
              <a:t>라인 플롯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바 </a:t>
            </a:r>
            <a:r>
              <a:rPr lang="ko-KR" altLang="en-US" dirty="0" err="1">
                <a:sym typeface="Wingdings" panose="05000000000000000000" pitchFamily="2" charset="2"/>
              </a:rPr>
              <a:t>챠트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파이 </a:t>
            </a:r>
            <a:r>
              <a:rPr lang="ko-KR" altLang="en-US" dirty="0" err="1">
                <a:sym typeface="Wingdings" panose="05000000000000000000" pitchFamily="2" charset="2"/>
              </a:rPr>
              <a:t>챠트</a:t>
            </a:r>
            <a:r>
              <a:rPr lang="en-US" altLang="ko-KR" dirty="0">
                <a:sym typeface="Wingdings" panose="05000000000000000000" pitchFamily="2" charset="2"/>
              </a:rPr>
              <a:t>, Scatter </a:t>
            </a:r>
            <a:r>
              <a:rPr lang="ko-KR" altLang="en-US" dirty="0">
                <a:sym typeface="Wingdings" panose="05000000000000000000" pitchFamily="2" charset="2"/>
              </a:rPr>
              <a:t>등 다양한 </a:t>
            </a:r>
            <a:r>
              <a:rPr lang="ko-KR" altLang="en-US" dirty="0" err="1">
                <a:sym typeface="Wingdings" panose="05000000000000000000" pitchFamily="2" charset="2"/>
              </a:rPr>
              <a:t>챠트와</a:t>
            </a:r>
            <a:r>
              <a:rPr lang="ko-KR" altLang="en-US" dirty="0">
                <a:sym typeface="Wingdings" panose="05000000000000000000" pitchFamily="2" charset="2"/>
              </a:rPr>
              <a:t> 플롯을 지원한다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0165" y="3356992"/>
            <a:ext cx="5171670" cy="651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0658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5591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1775521" y="271682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519936" y="479096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09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88088" y="271682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판다스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넘파이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맷플롭립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063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맷플롯립</a:t>
            </a:r>
            <a:r>
              <a:rPr lang="en-US" altLang="ko-KR" sz="2300" dirty="0"/>
              <a:t>(</a:t>
            </a:r>
            <a:r>
              <a:rPr lang="en-US" altLang="ko-KR" sz="2300" dirty="0" err="1"/>
              <a:t>Matplotlib</a:t>
            </a:r>
            <a:r>
              <a:rPr lang="en-US" altLang="ko-KR" sz="2300" dirty="0"/>
              <a:t>) –</a:t>
            </a:r>
            <a:r>
              <a:rPr lang="ko-KR" altLang="en-US" sz="2300" dirty="0"/>
              <a:t> </a:t>
            </a:r>
            <a:r>
              <a:rPr lang="en-US" altLang="ko-KR" sz="2300" dirty="0"/>
              <a:t>plot()</a:t>
            </a:r>
            <a:endParaRPr lang="ko-KR" altLang="en-US" sz="2300" dirty="0"/>
          </a:p>
        </p:txBody>
      </p:sp>
      <p:sp>
        <p:nvSpPr>
          <p:cNvPr id="13" name="TextBox 12"/>
          <p:cNvSpPr txBox="1"/>
          <p:nvPr/>
        </p:nvSpPr>
        <p:spPr>
          <a:xfrm>
            <a:off x="2495600" y="1700955"/>
            <a:ext cx="7200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.plot() </a:t>
            </a:r>
            <a:r>
              <a:rPr lang="ko-KR" altLang="en-US" dirty="0">
                <a:sym typeface="Wingdings" panose="05000000000000000000" pitchFamily="2" charset="2"/>
              </a:rPr>
              <a:t>함수에 하나의 숫자로 이루어진 리스트를 입력하여 그래프를 지정한다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</a:p>
          <a:p>
            <a:r>
              <a:rPr lang="ko-KR" altLang="en-US" dirty="0">
                <a:sym typeface="Wingdings" panose="05000000000000000000" pitchFamily="2" charset="2"/>
              </a:rPr>
              <a:t>리스트의 값들은 </a:t>
            </a:r>
            <a:r>
              <a:rPr lang="en-US" altLang="ko-KR" dirty="0">
                <a:sym typeface="Wingdings" panose="05000000000000000000" pitchFamily="2" charset="2"/>
              </a:rPr>
              <a:t>y</a:t>
            </a:r>
            <a:r>
              <a:rPr lang="ko-KR" altLang="en-US" dirty="0">
                <a:sym typeface="Wingdings" panose="05000000000000000000" pitchFamily="2" charset="2"/>
              </a:rPr>
              <a:t>값으로 나타나고 </a:t>
            </a:r>
            <a:r>
              <a:rPr lang="en-US" altLang="ko-KR" dirty="0">
                <a:sym typeface="Wingdings" panose="05000000000000000000" pitchFamily="2" charset="2"/>
              </a:rPr>
              <a:t>x</a:t>
            </a:r>
            <a:r>
              <a:rPr lang="ko-KR" altLang="en-US" dirty="0">
                <a:sym typeface="Wingdings" panose="05000000000000000000" pitchFamily="2" charset="2"/>
              </a:rPr>
              <a:t>축은 자동으로 </a:t>
            </a:r>
            <a:r>
              <a:rPr lang="en-US" altLang="ko-KR" dirty="0">
                <a:sym typeface="Wingdings" panose="05000000000000000000" pitchFamily="2" charset="2"/>
              </a:rPr>
              <a:t>0,1,2,3 </a:t>
            </a:r>
            <a:r>
              <a:rPr lang="ko-KR" altLang="en-US" dirty="0">
                <a:sym typeface="Wingdings" panose="05000000000000000000" pitchFamily="2" charset="2"/>
              </a:rPr>
              <a:t>순으로 지정된다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</a:p>
          <a:p>
            <a:r>
              <a:rPr lang="en-US" altLang="ko-KR" dirty="0">
                <a:sym typeface="Wingdings" panose="05000000000000000000" pitchFamily="2" charset="2"/>
              </a:rPr>
              <a:t>show() </a:t>
            </a:r>
            <a:r>
              <a:rPr lang="ko-KR" altLang="en-US" dirty="0">
                <a:sym typeface="Wingdings" panose="05000000000000000000" pitchFamily="2" charset="2"/>
              </a:rPr>
              <a:t>함수를 통하여 그래프를 화면에 출력한다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7266" y="3315999"/>
            <a:ext cx="5877469" cy="3220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1751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5591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1775521" y="271682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519936" y="479096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09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88088" y="271682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판다스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넘파이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맷플롭립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063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맷플롯립</a:t>
            </a:r>
            <a:r>
              <a:rPr lang="en-US" altLang="ko-KR" sz="2300" dirty="0"/>
              <a:t>(</a:t>
            </a:r>
            <a:r>
              <a:rPr lang="en-US" altLang="ko-KR" sz="2300" dirty="0" err="1"/>
              <a:t>Matplotlib</a:t>
            </a:r>
            <a:r>
              <a:rPr lang="en-US" altLang="ko-KR" sz="2300" dirty="0"/>
              <a:t>) – plot()</a:t>
            </a:r>
            <a:endParaRPr lang="ko-KR" altLang="en-US" sz="2300" dirty="0"/>
          </a:p>
        </p:txBody>
      </p:sp>
      <p:sp>
        <p:nvSpPr>
          <p:cNvPr id="13" name="TextBox 12"/>
          <p:cNvSpPr txBox="1"/>
          <p:nvPr/>
        </p:nvSpPr>
        <p:spPr>
          <a:xfrm>
            <a:off x="2495600" y="1700955"/>
            <a:ext cx="7200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.plot() </a:t>
            </a:r>
            <a:r>
              <a:rPr lang="ko-KR" altLang="en-US" dirty="0">
                <a:sym typeface="Wingdings" panose="05000000000000000000" pitchFamily="2" charset="2"/>
              </a:rPr>
              <a:t>함수에 </a:t>
            </a:r>
            <a:r>
              <a:rPr lang="ko-KR" altLang="en-US" dirty="0" err="1">
                <a:sym typeface="Wingdings" panose="05000000000000000000" pitchFamily="2" charset="2"/>
              </a:rPr>
              <a:t>두개의</a:t>
            </a:r>
            <a:r>
              <a:rPr lang="ko-KR" altLang="en-US" dirty="0">
                <a:sym typeface="Wingdings" panose="05000000000000000000" pitchFamily="2" charset="2"/>
              </a:rPr>
              <a:t> 숫자로 이루어진 리스트를 입력하여 그래프를 지정한다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</a:p>
          <a:p>
            <a:r>
              <a:rPr lang="ko-KR" altLang="en-US" dirty="0">
                <a:sym typeface="Wingdings" panose="05000000000000000000" pitchFamily="2" charset="2"/>
              </a:rPr>
              <a:t>첫 리스트의 값이 </a:t>
            </a:r>
            <a:r>
              <a:rPr lang="en-US" altLang="ko-KR" dirty="0">
                <a:sym typeface="Wingdings" panose="05000000000000000000" pitchFamily="2" charset="2"/>
              </a:rPr>
              <a:t>x</a:t>
            </a:r>
            <a:r>
              <a:rPr lang="ko-KR" altLang="en-US" dirty="0">
                <a:sym typeface="Wingdings" panose="05000000000000000000" pitchFamily="2" charset="2"/>
              </a:rPr>
              <a:t>축 </a:t>
            </a:r>
            <a:r>
              <a:rPr lang="ko-KR" altLang="en-US" dirty="0" err="1">
                <a:sym typeface="Wingdings" panose="05000000000000000000" pitchFamily="2" charset="2"/>
              </a:rPr>
              <a:t>두번째</a:t>
            </a:r>
            <a:r>
              <a:rPr lang="ko-KR" altLang="en-US" dirty="0">
                <a:sym typeface="Wingdings" panose="05000000000000000000" pitchFamily="2" charset="2"/>
              </a:rPr>
              <a:t> 리스트의 값이 </a:t>
            </a:r>
            <a:r>
              <a:rPr lang="en-US" altLang="ko-KR" dirty="0">
                <a:sym typeface="Wingdings" panose="05000000000000000000" pitchFamily="2" charset="2"/>
              </a:rPr>
              <a:t>y</a:t>
            </a:r>
            <a:r>
              <a:rPr lang="ko-KR" altLang="en-US" dirty="0">
                <a:sym typeface="Wingdings" panose="05000000000000000000" pitchFamily="2" charset="2"/>
              </a:rPr>
              <a:t>축의 값이 된다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7198" y="3426565"/>
            <a:ext cx="6177603" cy="2999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1603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5591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1775521" y="271682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519936" y="479096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09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88088" y="271682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판다스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넘파이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맷플롭립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063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맷플롯립</a:t>
            </a:r>
            <a:r>
              <a:rPr lang="en-US" altLang="ko-KR" sz="2300" dirty="0"/>
              <a:t>(</a:t>
            </a:r>
            <a:r>
              <a:rPr lang="en-US" altLang="ko-KR" sz="2300" dirty="0" err="1"/>
              <a:t>Matplotlib</a:t>
            </a:r>
            <a:r>
              <a:rPr lang="en-US" altLang="ko-KR" sz="2300" dirty="0"/>
              <a:t>) – </a:t>
            </a:r>
            <a:r>
              <a:rPr lang="ko-KR" altLang="en-US" sz="2300" dirty="0"/>
              <a:t>선 색 변경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4468" y="3370260"/>
            <a:ext cx="5431692" cy="2651029"/>
          </a:xfrm>
          <a:prstGeom prst="rect">
            <a:avLst/>
          </a:prstGeom>
        </p:spPr>
      </p:pic>
      <p:graphicFrame>
        <p:nvGraphicFramePr>
          <p:cNvPr id="5" name="표 4"/>
          <p:cNvGraphicFramePr>
            <a:graphicFrameLocks noGrp="1"/>
          </p:cNvGraphicFramePr>
          <p:nvPr>
            <p:extLst/>
          </p:nvPr>
        </p:nvGraphicFramePr>
        <p:xfrm>
          <a:off x="7824193" y="3414608"/>
          <a:ext cx="2092205" cy="29667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32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01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b</a:t>
                      </a:r>
                      <a:endParaRPr lang="ko-KR" alt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blue</a:t>
                      </a:r>
                      <a:endParaRPr lang="ko-KR" altLang="en-US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g</a:t>
                      </a:r>
                      <a:endParaRPr lang="ko-KR" alt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green</a:t>
                      </a:r>
                      <a:endParaRPr lang="ko-KR" altLang="en-US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r</a:t>
                      </a:r>
                      <a:endParaRPr lang="ko-KR" alt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red</a:t>
                      </a:r>
                      <a:endParaRPr lang="ko-KR" altLang="en-US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c</a:t>
                      </a:r>
                      <a:endParaRPr lang="ko-KR" alt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cyan</a:t>
                      </a:r>
                      <a:endParaRPr lang="ko-KR" altLang="en-US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m</a:t>
                      </a:r>
                      <a:endParaRPr lang="ko-KR" alt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magenta</a:t>
                      </a:r>
                      <a:endParaRPr lang="ko-KR" altLang="en-US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y</a:t>
                      </a:r>
                      <a:endParaRPr lang="ko-KR" alt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yellow</a:t>
                      </a:r>
                      <a:endParaRPr lang="ko-KR" altLang="en-US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k</a:t>
                      </a:r>
                      <a:endParaRPr lang="ko-KR" alt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black</a:t>
                      </a:r>
                      <a:endParaRPr lang="ko-KR" altLang="en-US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w</a:t>
                      </a:r>
                      <a:endParaRPr lang="ko-KR" alt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white</a:t>
                      </a:r>
                      <a:endParaRPr lang="ko-KR" altLang="en-US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495600" y="1700956"/>
            <a:ext cx="720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plot(‘x</a:t>
            </a:r>
            <a:r>
              <a:rPr lang="ko-KR" altLang="en-US" dirty="0">
                <a:sym typeface="Wingdings" panose="05000000000000000000" pitchFamily="2" charset="2"/>
              </a:rPr>
              <a:t>축 리스트</a:t>
            </a:r>
            <a:r>
              <a:rPr lang="en-US" altLang="ko-KR" dirty="0">
                <a:sym typeface="Wingdings" panose="05000000000000000000" pitchFamily="2" charset="2"/>
              </a:rPr>
              <a:t>’, 'y</a:t>
            </a:r>
            <a:r>
              <a:rPr lang="ko-KR" altLang="en-US" dirty="0">
                <a:sym typeface="Wingdings" panose="05000000000000000000" pitchFamily="2" charset="2"/>
              </a:rPr>
              <a:t>축 리스트</a:t>
            </a:r>
            <a:r>
              <a:rPr lang="en-US" altLang="ko-KR" dirty="0">
                <a:sym typeface="Wingdings" panose="05000000000000000000" pitchFamily="2" charset="2"/>
              </a:rPr>
              <a:t>', ‘</a:t>
            </a:r>
            <a:r>
              <a:rPr lang="ko-KR" altLang="en-US" dirty="0">
                <a:sym typeface="Wingdings" panose="05000000000000000000" pitchFamily="2" charset="2"/>
              </a:rPr>
              <a:t>옵션</a:t>
            </a:r>
            <a:r>
              <a:rPr lang="en-US" altLang="ko-KR" dirty="0">
                <a:sym typeface="Wingdings" panose="05000000000000000000" pitchFamily="2" charset="2"/>
              </a:rPr>
              <a:t>＇)   </a:t>
            </a:r>
            <a:r>
              <a:rPr lang="ko-KR" altLang="en-US" dirty="0">
                <a:sym typeface="Wingdings" panose="05000000000000000000" pitchFamily="2" charset="2"/>
              </a:rPr>
              <a:t>옵션 부분에 색상 인자 값이나 </a:t>
            </a:r>
            <a:r>
              <a:rPr lang="ko-KR" altLang="en-US" dirty="0" err="1">
                <a:sym typeface="Wingdings" panose="05000000000000000000" pitchFamily="2" charset="2"/>
              </a:rPr>
              <a:t>헥스</a:t>
            </a:r>
            <a:r>
              <a:rPr lang="ko-KR" altLang="en-US" dirty="0">
                <a:sym typeface="Wingdings" panose="05000000000000000000" pitchFamily="2" charset="2"/>
              </a:rPr>
              <a:t> 값을 넣어주면 선의 색이 변경이 가능하다</a:t>
            </a:r>
            <a:r>
              <a:rPr lang="en-US" altLang="ko-KR" dirty="0">
                <a:sym typeface="Wingdings" panose="05000000000000000000" pitchFamily="2" charset="2"/>
              </a:rPr>
              <a:t>.  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endParaRPr lang="en-US" altLang="ko-KR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7602364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5591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1775521" y="271682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519936" y="479096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09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88088" y="271682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판다스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넘파이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맷플롭립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063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맷플롯립</a:t>
            </a:r>
            <a:r>
              <a:rPr lang="en-US" altLang="ko-KR" sz="2300" dirty="0"/>
              <a:t>(</a:t>
            </a:r>
            <a:r>
              <a:rPr lang="en-US" altLang="ko-KR" sz="2300" dirty="0" err="1"/>
              <a:t>Matplotlib</a:t>
            </a:r>
            <a:r>
              <a:rPr lang="en-US" altLang="ko-KR" sz="2300" dirty="0"/>
              <a:t>) – </a:t>
            </a:r>
            <a:r>
              <a:rPr lang="ko-KR" altLang="en-US" sz="2300" dirty="0"/>
              <a:t>선 종류 변경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95600" y="1700956"/>
            <a:ext cx="720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plot(‘x</a:t>
            </a:r>
            <a:r>
              <a:rPr lang="ko-KR" altLang="en-US" dirty="0">
                <a:sym typeface="Wingdings" panose="05000000000000000000" pitchFamily="2" charset="2"/>
              </a:rPr>
              <a:t>축 리스트</a:t>
            </a:r>
            <a:r>
              <a:rPr lang="en-US" altLang="ko-KR" dirty="0">
                <a:sym typeface="Wingdings" panose="05000000000000000000" pitchFamily="2" charset="2"/>
              </a:rPr>
              <a:t>’, 'y</a:t>
            </a:r>
            <a:r>
              <a:rPr lang="ko-KR" altLang="en-US" dirty="0">
                <a:sym typeface="Wingdings" panose="05000000000000000000" pitchFamily="2" charset="2"/>
              </a:rPr>
              <a:t>축 리스트</a:t>
            </a:r>
            <a:r>
              <a:rPr lang="en-US" altLang="ko-KR" dirty="0">
                <a:sym typeface="Wingdings" panose="05000000000000000000" pitchFamily="2" charset="2"/>
              </a:rPr>
              <a:t>', ‘</a:t>
            </a:r>
            <a:r>
              <a:rPr lang="ko-KR" altLang="en-US" dirty="0">
                <a:sym typeface="Wingdings" panose="05000000000000000000" pitchFamily="2" charset="2"/>
              </a:rPr>
              <a:t>옵션</a:t>
            </a:r>
            <a:r>
              <a:rPr lang="en-US" altLang="ko-KR" dirty="0">
                <a:sym typeface="Wingdings" panose="05000000000000000000" pitchFamily="2" charset="2"/>
              </a:rPr>
              <a:t>＇)   </a:t>
            </a:r>
            <a:r>
              <a:rPr lang="ko-KR" altLang="en-US" dirty="0">
                <a:sym typeface="Wingdings" panose="05000000000000000000" pitchFamily="2" charset="2"/>
              </a:rPr>
              <a:t>옵션 부분에 선 종류 인자 값을 넣어주면 선의 종류가 변경된다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/>
          </p:nvPr>
        </p:nvGraphicFramePr>
        <p:xfrm>
          <a:off x="2951820" y="2996952"/>
          <a:ext cx="6288360" cy="18542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929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12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85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56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-</a:t>
                      </a:r>
                      <a:endParaRPr lang="ko-KR" alt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Solid line</a:t>
                      </a:r>
                      <a:endParaRPr lang="ko-KR" alt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o</a:t>
                      </a:r>
                      <a:endParaRPr lang="ko-KR" alt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Circle marker</a:t>
                      </a:r>
                      <a:endParaRPr lang="ko-KR" altLang="en-US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--</a:t>
                      </a:r>
                      <a:endParaRPr lang="ko-KR" alt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Dashed line</a:t>
                      </a:r>
                      <a:endParaRPr lang="ko-KR" alt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v</a:t>
                      </a:r>
                      <a:endParaRPr lang="ko-KR" alt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err="1"/>
                        <a:t>Triangle_down</a:t>
                      </a:r>
                      <a:r>
                        <a:rPr lang="en-US" altLang="ko-KR" b="0" dirty="0"/>
                        <a:t> marker</a:t>
                      </a:r>
                      <a:endParaRPr lang="ko-KR" altLang="en-US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-.</a:t>
                      </a:r>
                      <a:endParaRPr lang="ko-KR" alt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Dash-dot line</a:t>
                      </a:r>
                      <a:endParaRPr lang="ko-KR" alt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Star marker</a:t>
                      </a:r>
                      <a:endParaRPr lang="ko-KR" altLang="en-US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.</a:t>
                      </a:r>
                      <a:endParaRPr lang="ko-KR" alt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Point marker</a:t>
                      </a:r>
                      <a:endParaRPr lang="ko-KR" alt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x</a:t>
                      </a:r>
                      <a:endParaRPr lang="ko-KR" alt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X marker</a:t>
                      </a:r>
                      <a:endParaRPr lang="ko-KR" altLang="en-US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,</a:t>
                      </a:r>
                      <a:endParaRPr lang="ko-KR" alt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Pixel marker</a:t>
                      </a:r>
                      <a:endParaRPr lang="ko-KR" alt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D</a:t>
                      </a:r>
                      <a:endParaRPr lang="ko-KR" alt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Diamond marker</a:t>
                      </a:r>
                      <a:endParaRPr lang="ko-KR" altLang="en-US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99396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5591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1775521" y="271682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519936" y="479096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09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88088" y="271682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판다스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넘파이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맷플롭립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063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맷플롯립</a:t>
            </a:r>
            <a:r>
              <a:rPr lang="en-US" altLang="ko-KR" sz="2300" dirty="0"/>
              <a:t>(</a:t>
            </a:r>
            <a:r>
              <a:rPr lang="en-US" altLang="ko-KR" sz="2300" dirty="0" err="1"/>
              <a:t>Matplotlib</a:t>
            </a:r>
            <a:r>
              <a:rPr lang="en-US" altLang="ko-KR" sz="2300" dirty="0"/>
              <a:t>) – </a:t>
            </a:r>
            <a:r>
              <a:rPr lang="ko-KR" altLang="en-US" sz="2300" dirty="0"/>
              <a:t>선 종류 변경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3676" y="2158824"/>
            <a:ext cx="5412640" cy="2998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9736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5591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1775521" y="271682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519936" y="479096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09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88088" y="271682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판다스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넘파이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맷플롭립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063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맷플롯립</a:t>
            </a:r>
            <a:r>
              <a:rPr lang="en-US" altLang="ko-KR" sz="2300" dirty="0"/>
              <a:t>(</a:t>
            </a:r>
            <a:r>
              <a:rPr lang="en-US" altLang="ko-KR" sz="2300" dirty="0" err="1"/>
              <a:t>Matplotlib</a:t>
            </a:r>
            <a:r>
              <a:rPr lang="en-US" altLang="ko-KR" sz="2300" dirty="0"/>
              <a:t>) – </a:t>
            </a:r>
            <a:r>
              <a:rPr lang="ko-KR" altLang="en-US" sz="2300" dirty="0"/>
              <a:t>레이블</a:t>
            </a:r>
            <a:r>
              <a:rPr lang="en-US" altLang="ko-KR" sz="2300" dirty="0"/>
              <a:t>, </a:t>
            </a:r>
            <a:r>
              <a:rPr lang="ko-KR" altLang="en-US" sz="2300" dirty="0"/>
              <a:t>타이틀 추가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95600" y="1700955"/>
            <a:ext cx="7200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>
                <a:sym typeface="Wingdings" panose="05000000000000000000" pitchFamily="2" charset="2"/>
              </a:rPr>
              <a:t>plt.xlabel</a:t>
            </a:r>
            <a:r>
              <a:rPr lang="en-US" altLang="ko-KR" dirty="0">
                <a:sym typeface="Wingdings" panose="05000000000000000000" pitchFamily="2" charset="2"/>
              </a:rPr>
              <a:t>(), </a:t>
            </a:r>
            <a:r>
              <a:rPr lang="en-US" altLang="ko-KR" dirty="0" err="1">
                <a:sym typeface="Wingdings" panose="05000000000000000000" pitchFamily="2" charset="2"/>
              </a:rPr>
              <a:t>plt.ylabel</a:t>
            </a:r>
            <a:r>
              <a:rPr lang="en-US" altLang="ko-KR" dirty="0">
                <a:sym typeface="Wingdings" panose="05000000000000000000" pitchFamily="2" charset="2"/>
              </a:rPr>
              <a:t>()   </a:t>
            </a:r>
            <a:r>
              <a:rPr lang="en-US" altLang="ko-KR" dirty="0" err="1">
                <a:sym typeface="Wingdings" panose="05000000000000000000" pitchFamily="2" charset="2"/>
              </a:rPr>
              <a:t>x,y</a:t>
            </a:r>
            <a:r>
              <a:rPr lang="ko-KR" altLang="en-US" dirty="0">
                <a:sym typeface="Wingdings" panose="05000000000000000000" pitchFamily="2" charset="2"/>
              </a:rPr>
              <a:t>축 레이블 추가</a:t>
            </a:r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 err="1">
                <a:sym typeface="Wingdings" panose="05000000000000000000" pitchFamily="2" charset="2"/>
              </a:rPr>
              <a:t>plt.title</a:t>
            </a:r>
            <a:r>
              <a:rPr lang="en-US" altLang="ko-KR" dirty="0">
                <a:sym typeface="Wingdings" panose="05000000000000000000" pitchFamily="2" charset="2"/>
              </a:rPr>
              <a:t>()  </a:t>
            </a:r>
            <a:r>
              <a:rPr lang="ko-KR" altLang="en-US" dirty="0">
                <a:sym typeface="Wingdings" panose="05000000000000000000" pitchFamily="2" charset="2"/>
              </a:rPr>
              <a:t>그래프 제목 추가</a:t>
            </a:r>
            <a:endParaRPr lang="en-US" altLang="ko-KR" dirty="0">
              <a:sym typeface="Wingdings" panose="05000000000000000000" pitchFamily="2" charset="2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4855" y="2957105"/>
            <a:ext cx="5602287" cy="3475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7579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5591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1775521" y="271682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519936" y="479096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09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88088" y="271682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판다스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넘파이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맷플롭립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063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맷플롯립</a:t>
            </a:r>
            <a:r>
              <a:rPr lang="en-US" altLang="ko-KR" sz="2300" dirty="0"/>
              <a:t>(</a:t>
            </a:r>
            <a:r>
              <a:rPr lang="en-US" altLang="ko-KR" sz="2300" dirty="0" err="1"/>
              <a:t>Matplotlib</a:t>
            </a:r>
            <a:r>
              <a:rPr lang="en-US" altLang="ko-KR" sz="2300" dirty="0"/>
              <a:t>) – </a:t>
            </a:r>
            <a:r>
              <a:rPr lang="ko-KR" altLang="en-US" sz="2300" dirty="0"/>
              <a:t>범례 추가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95600" y="1700955"/>
            <a:ext cx="720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>
                <a:sym typeface="Wingdings" panose="05000000000000000000" pitchFamily="2" charset="2"/>
              </a:rPr>
              <a:t>plt.legend</a:t>
            </a:r>
            <a:r>
              <a:rPr lang="en-US" altLang="ko-KR" dirty="0">
                <a:sym typeface="Wingdings" panose="05000000000000000000" pitchFamily="2" charset="2"/>
              </a:rPr>
              <a:t>()  </a:t>
            </a:r>
            <a:r>
              <a:rPr lang="ko-KR" altLang="en-US" dirty="0">
                <a:sym typeface="Wingdings" panose="05000000000000000000" pitchFamily="2" charset="2"/>
              </a:rPr>
              <a:t>그래프 라인의 범례를 추가</a:t>
            </a:r>
            <a:r>
              <a:rPr lang="en-US" altLang="ko-KR" dirty="0">
                <a:sym typeface="Wingdings" panose="05000000000000000000" pitchFamily="2" charset="2"/>
              </a:rPr>
              <a:t>  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0821" y="2420888"/>
            <a:ext cx="5470358" cy="3699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6791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5591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1775521" y="271682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519936" y="479096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09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88088" y="271682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판다스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넘파이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맷플롭립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063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맷플롯립</a:t>
            </a:r>
            <a:r>
              <a:rPr lang="en-US" altLang="ko-KR" sz="2300" dirty="0"/>
              <a:t>(</a:t>
            </a:r>
            <a:r>
              <a:rPr lang="en-US" altLang="ko-KR" sz="2300" dirty="0" err="1"/>
              <a:t>Matplotlib</a:t>
            </a:r>
            <a:r>
              <a:rPr lang="en-US" altLang="ko-KR" sz="2300" dirty="0"/>
              <a:t>) – </a:t>
            </a:r>
            <a:r>
              <a:rPr lang="ko-KR" altLang="en-US" sz="2300" dirty="0"/>
              <a:t>범례 추가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95600" y="1700956"/>
            <a:ext cx="720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>
                <a:sym typeface="Wingdings" panose="05000000000000000000" pitchFamily="2" charset="2"/>
              </a:rPr>
              <a:t>plt.legend</a:t>
            </a:r>
            <a:r>
              <a:rPr lang="en-US" altLang="ko-KR" dirty="0">
                <a:sym typeface="Wingdings" panose="05000000000000000000" pitchFamily="2" charset="2"/>
              </a:rPr>
              <a:t>()  </a:t>
            </a:r>
            <a:r>
              <a:rPr lang="en-US" altLang="ko-KR" dirty="0" err="1">
                <a:sym typeface="Wingdings" panose="05000000000000000000" pitchFamily="2" charset="2"/>
              </a:rPr>
              <a:t>loc</a:t>
            </a:r>
            <a:r>
              <a:rPr lang="en-US" altLang="ko-KR" dirty="0">
                <a:sym typeface="Wingdings" panose="05000000000000000000" pitchFamily="2" charset="2"/>
              </a:rPr>
              <a:t>=“</a:t>
            </a:r>
            <a:r>
              <a:rPr lang="ko-KR" altLang="en-US" dirty="0">
                <a:sym typeface="Wingdings" panose="05000000000000000000" pitchFamily="2" charset="2"/>
              </a:rPr>
              <a:t>위치</a:t>
            </a:r>
            <a:r>
              <a:rPr lang="en-US" altLang="ko-KR" dirty="0">
                <a:sym typeface="Wingdings" panose="05000000000000000000" pitchFamily="2" charset="2"/>
              </a:rPr>
              <a:t>”</a:t>
            </a:r>
            <a:r>
              <a:rPr lang="ko-KR" altLang="en-US" dirty="0">
                <a:sym typeface="Wingdings" panose="05000000000000000000" pitchFamily="2" charset="2"/>
              </a:rPr>
              <a:t> 를 지정하면 지정된 위치에 범례가 나타난다</a:t>
            </a:r>
            <a:r>
              <a:rPr lang="en-US" altLang="ko-KR" dirty="0">
                <a:sym typeface="Wingdings" panose="05000000000000000000" pitchFamily="2" charset="2"/>
              </a:rPr>
              <a:t>.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0528" y="2564905"/>
            <a:ext cx="5498937" cy="3679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8403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5591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1775521" y="271682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519936" y="479096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09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88088" y="271682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판다스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넘파이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맷플롭립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063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맷플롯립</a:t>
            </a:r>
            <a:r>
              <a:rPr lang="en-US" altLang="ko-KR" sz="2300" dirty="0"/>
              <a:t>(</a:t>
            </a:r>
            <a:r>
              <a:rPr lang="en-US" altLang="ko-KR" sz="2300" dirty="0" err="1"/>
              <a:t>Matplotlib</a:t>
            </a:r>
            <a:r>
              <a:rPr lang="en-US" altLang="ko-KR" sz="2300" dirty="0"/>
              <a:t>) – </a:t>
            </a:r>
            <a:r>
              <a:rPr lang="ko-KR" altLang="en-US" sz="2300" dirty="0"/>
              <a:t>범례 추가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95600" y="1700956"/>
            <a:ext cx="720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>
                <a:sym typeface="Wingdings" panose="05000000000000000000" pitchFamily="2" charset="2"/>
              </a:rPr>
              <a:t>plt.legend</a:t>
            </a:r>
            <a:r>
              <a:rPr lang="en-US" altLang="ko-KR" dirty="0">
                <a:sym typeface="Wingdings" panose="05000000000000000000" pitchFamily="2" charset="2"/>
              </a:rPr>
              <a:t>()  </a:t>
            </a:r>
            <a:r>
              <a:rPr lang="en-US" altLang="ko-KR" dirty="0" err="1">
                <a:sym typeface="Wingdings" panose="05000000000000000000" pitchFamily="2" charset="2"/>
              </a:rPr>
              <a:t>loc</a:t>
            </a:r>
            <a:r>
              <a:rPr lang="en-US" altLang="ko-KR" dirty="0">
                <a:sym typeface="Wingdings" panose="05000000000000000000" pitchFamily="2" charset="2"/>
              </a:rPr>
              <a:t>=“</a:t>
            </a:r>
            <a:r>
              <a:rPr lang="ko-KR" altLang="en-US" dirty="0">
                <a:sym typeface="Wingdings" panose="05000000000000000000" pitchFamily="2" charset="2"/>
              </a:rPr>
              <a:t>위치</a:t>
            </a:r>
            <a:r>
              <a:rPr lang="en-US" altLang="ko-KR" dirty="0">
                <a:sym typeface="Wingdings" panose="05000000000000000000" pitchFamily="2" charset="2"/>
              </a:rPr>
              <a:t>”</a:t>
            </a:r>
            <a:r>
              <a:rPr lang="ko-KR" altLang="en-US" dirty="0">
                <a:sym typeface="Wingdings" panose="05000000000000000000" pitchFamily="2" charset="2"/>
              </a:rPr>
              <a:t> 를 지정하면 지정된 위치에 범례가 나타난다</a:t>
            </a:r>
            <a:r>
              <a:rPr lang="en-US" altLang="ko-KR" dirty="0">
                <a:sym typeface="Wingdings" panose="05000000000000000000" pitchFamily="2" charset="2"/>
              </a:rPr>
              <a:t>.(</a:t>
            </a:r>
            <a:r>
              <a:rPr lang="ko-KR" altLang="en-US" dirty="0">
                <a:sym typeface="Wingdings" panose="05000000000000000000" pitchFamily="2" charset="2"/>
              </a:rPr>
              <a:t>위치는  </a:t>
            </a:r>
            <a:r>
              <a:rPr lang="en-US" altLang="ko-KR" dirty="0">
                <a:sym typeface="Wingdings" panose="05000000000000000000" pitchFamily="2" charset="2"/>
              </a:rPr>
              <a:t>string</a:t>
            </a:r>
            <a:r>
              <a:rPr lang="ko-KR" altLang="en-US" dirty="0">
                <a:sym typeface="Wingdings" panose="05000000000000000000" pitchFamily="2" charset="2"/>
              </a:rPr>
              <a:t>이나 </a:t>
            </a:r>
            <a:r>
              <a:rPr lang="en-US" altLang="ko-KR" dirty="0">
                <a:sym typeface="Wingdings" panose="05000000000000000000" pitchFamily="2" charset="2"/>
              </a:rPr>
              <a:t>code</a:t>
            </a:r>
            <a:r>
              <a:rPr lang="ko-KR" altLang="en-US" dirty="0">
                <a:sym typeface="Wingdings" panose="05000000000000000000" pitchFamily="2" charset="2"/>
              </a:rPr>
              <a:t> 값으로 지정 가능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/>
          </p:nvPr>
        </p:nvGraphicFramePr>
        <p:xfrm>
          <a:off x="3011996" y="2636912"/>
          <a:ext cx="6096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string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code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string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code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string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code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upper left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upper center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9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upper right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center left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center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center right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lower left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lower center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lower right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best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right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74844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5591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1775521" y="271682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519936" y="479096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09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88088" y="271682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판다스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넘파이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맷플롭립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063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맷플롯립</a:t>
            </a:r>
            <a:r>
              <a:rPr lang="en-US" altLang="ko-KR" sz="2300" dirty="0"/>
              <a:t>(</a:t>
            </a:r>
            <a:r>
              <a:rPr lang="en-US" altLang="ko-KR" sz="2300" dirty="0" err="1"/>
              <a:t>Matplotlib</a:t>
            </a:r>
            <a:r>
              <a:rPr lang="en-US" altLang="ko-KR" sz="2300" dirty="0"/>
              <a:t>) – </a:t>
            </a:r>
            <a:r>
              <a:rPr lang="ko-KR" altLang="en-US" sz="2300" dirty="0"/>
              <a:t>서브플롯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95600" y="1700956"/>
            <a:ext cx="72008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ym typeface="Wingdings" panose="05000000000000000000" pitchFamily="2" charset="2"/>
              </a:rPr>
              <a:t>여러 개의 그래프를 그리는 경우 사용한다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</a:p>
          <a:p>
            <a:r>
              <a:rPr lang="ko-KR" altLang="en-US" dirty="0">
                <a:sym typeface="Wingdings" panose="05000000000000000000" pitchFamily="2" charset="2"/>
              </a:rPr>
              <a:t>그래프의 위치를 </a:t>
            </a:r>
            <a:r>
              <a:rPr lang="ko-KR" altLang="en-US" dirty="0" err="1">
                <a:sym typeface="Wingdings" panose="05000000000000000000" pitchFamily="2" charset="2"/>
              </a:rPr>
              <a:t>격자형으로</a:t>
            </a:r>
            <a:r>
              <a:rPr lang="ko-KR" altLang="en-US" dirty="0">
                <a:sym typeface="Wingdings" panose="05000000000000000000" pitchFamily="2" charset="2"/>
              </a:rPr>
              <a:t> 지정하여 그래프를 출력한다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 err="1">
                <a:sym typeface="Wingdings" panose="05000000000000000000" pitchFamily="2" charset="2"/>
              </a:rPr>
              <a:t>plt.subplot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en-US" altLang="ko-KR" dirty="0" err="1">
                <a:sym typeface="Wingdings" panose="05000000000000000000" pitchFamily="2" charset="2"/>
              </a:rPr>
              <a:t>nrow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en-US" altLang="ko-KR" dirty="0" err="1">
                <a:sym typeface="Wingdings" panose="05000000000000000000" pitchFamily="2" charset="2"/>
              </a:rPr>
              <a:t>ncol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en-US" altLang="ko-KR" dirty="0" err="1">
                <a:sym typeface="Wingdings" panose="05000000000000000000" pitchFamily="2" charset="2"/>
              </a:rPr>
              <a:t>pos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	</a:t>
            </a:r>
            <a:r>
              <a:rPr lang="en-US" altLang="ko-KR" dirty="0" err="1">
                <a:sym typeface="Wingdings" panose="05000000000000000000" pitchFamily="2" charset="2"/>
              </a:rPr>
              <a:t>nrow</a:t>
            </a:r>
            <a:r>
              <a:rPr lang="en-US" altLang="ko-KR" dirty="0">
                <a:sym typeface="Wingdings" panose="05000000000000000000" pitchFamily="2" charset="2"/>
              </a:rPr>
              <a:t> : </a:t>
            </a:r>
            <a:r>
              <a:rPr lang="ko-KR" altLang="en-US" dirty="0">
                <a:sym typeface="Wingdings" panose="05000000000000000000" pitchFamily="2" charset="2"/>
              </a:rPr>
              <a:t> 행의 수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	</a:t>
            </a:r>
            <a:r>
              <a:rPr lang="en-US" altLang="ko-KR" dirty="0" err="1">
                <a:sym typeface="Wingdings" panose="05000000000000000000" pitchFamily="2" charset="2"/>
              </a:rPr>
              <a:t>ncol</a:t>
            </a:r>
            <a:r>
              <a:rPr lang="en-US" altLang="ko-KR" dirty="0">
                <a:sym typeface="Wingdings" panose="05000000000000000000" pitchFamily="2" charset="2"/>
              </a:rPr>
              <a:t> : </a:t>
            </a:r>
            <a:r>
              <a:rPr lang="ko-KR" altLang="en-US" dirty="0">
                <a:sym typeface="Wingdings" panose="05000000000000000000" pitchFamily="2" charset="2"/>
              </a:rPr>
              <a:t>열의 수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	</a:t>
            </a:r>
            <a:r>
              <a:rPr lang="en-US" altLang="ko-KR" dirty="0" err="1">
                <a:sym typeface="Wingdings" panose="05000000000000000000" pitchFamily="2" charset="2"/>
              </a:rPr>
              <a:t>pos</a:t>
            </a:r>
            <a:r>
              <a:rPr lang="en-US" altLang="ko-KR" dirty="0">
                <a:sym typeface="Wingdings" panose="05000000000000000000" pitchFamily="2" charset="2"/>
              </a:rPr>
              <a:t> : </a:t>
            </a:r>
            <a:r>
              <a:rPr lang="ko-KR" altLang="en-US" dirty="0">
                <a:sym typeface="Wingdings" panose="05000000000000000000" pitchFamily="2" charset="2"/>
              </a:rPr>
              <a:t>위치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1" indent="-457200"/>
            <a:r>
              <a:rPr lang="ko-KR" altLang="en-US" dirty="0">
                <a:sym typeface="Wingdings" panose="05000000000000000000" pitchFamily="2" charset="2"/>
              </a:rPr>
              <a:t>예를 들어 </a:t>
            </a:r>
            <a:r>
              <a:rPr lang="en-US" altLang="ko-KR" dirty="0" err="1">
                <a:sym typeface="Wingdings" panose="05000000000000000000" pitchFamily="2" charset="2"/>
              </a:rPr>
              <a:t>plt.subplot</a:t>
            </a:r>
            <a:r>
              <a:rPr lang="en-US" altLang="ko-KR" dirty="0">
                <a:sym typeface="Wingdings" panose="05000000000000000000" pitchFamily="2" charset="2"/>
              </a:rPr>
              <a:t>(3,4,1) </a:t>
            </a:r>
            <a:r>
              <a:rPr lang="ko-KR" altLang="en-US" dirty="0">
                <a:sym typeface="Wingdings" panose="05000000000000000000" pitchFamily="2" charset="2"/>
              </a:rPr>
              <a:t>지정하면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 indent="-457200"/>
            <a:endParaRPr lang="en-US" altLang="ko-KR" dirty="0">
              <a:sym typeface="Wingdings" panose="05000000000000000000" pitchFamily="2" charset="2"/>
            </a:endParaRPr>
          </a:p>
          <a:p>
            <a:pPr lvl="1" indent="-457200"/>
            <a:endParaRPr lang="en-US" altLang="ko-KR" dirty="0">
              <a:sym typeface="Wingdings" panose="05000000000000000000" pitchFamily="2" charset="2"/>
            </a:endParaRPr>
          </a:p>
          <a:p>
            <a:pPr lvl="1" indent="-457200"/>
            <a:endParaRPr lang="en-US" altLang="ko-KR" dirty="0">
              <a:sym typeface="Wingdings" panose="05000000000000000000" pitchFamily="2" charset="2"/>
            </a:endParaRPr>
          </a:p>
          <a:p>
            <a:pPr lvl="1" indent="-457200"/>
            <a:endParaRPr lang="en-US" altLang="ko-KR" dirty="0">
              <a:sym typeface="Wingdings" panose="05000000000000000000" pitchFamily="2" charset="2"/>
            </a:endParaRPr>
          </a:p>
          <a:p>
            <a:pPr lvl="1" indent="-457200"/>
            <a:endParaRPr lang="en-US" altLang="ko-KR" dirty="0">
              <a:sym typeface="Wingdings" panose="05000000000000000000" pitchFamily="2" charset="2"/>
            </a:endParaRPr>
          </a:p>
          <a:p>
            <a:pPr lvl="1" indent="-457200"/>
            <a:r>
              <a:rPr lang="en-US" altLang="ko-KR" dirty="0">
                <a:sym typeface="Wingdings" panose="05000000000000000000" pitchFamily="2" charset="2"/>
              </a:rPr>
              <a:t>1</a:t>
            </a:r>
            <a:r>
              <a:rPr lang="ko-KR" altLang="en-US" dirty="0">
                <a:sym typeface="Wingdings" panose="05000000000000000000" pitchFamily="2" charset="2"/>
              </a:rPr>
              <a:t>의 위치에 그래프가 출력이 된다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/>
          </p:nvPr>
        </p:nvGraphicFramePr>
        <p:xfrm>
          <a:off x="5424264" y="4293096"/>
          <a:ext cx="1391816" cy="11125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479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9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79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1</a:t>
                      </a:r>
                      <a:endParaRPr lang="ko-KR" altLang="en-US" sz="1000" b="0" dirty="0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2</a:t>
                      </a:r>
                      <a:endParaRPr lang="ko-KR" altLang="en-US" sz="1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3</a:t>
                      </a:r>
                      <a:endParaRPr lang="ko-KR" altLang="en-US" sz="1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4</a:t>
                      </a:r>
                      <a:endParaRPr lang="ko-KR" altLang="en-US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5</a:t>
                      </a:r>
                      <a:endParaRPr lang="ko-KR" altLang="en-US" sz="1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6</a:t>
                      </a:r>
                      <a:endParaRPr lang="ko-KR" altLang="en-US" sz="1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7</a:t>
                      </a:r>
                      <a:endParaRPr lang="ko-KR" altLang="en-US" sz="1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8</a:t>
                      </a:r>
                      <a:endParaRPr lang="ko-KR" altLang="en-US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9</a:t>
                      </a:r>
                      <a:endParaRPr lang="ko-KR" altLang="en-US" sz="1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10</a:t>
                      </a:r>
                      <a:endParaRPr lang="ko-KR" altLang="en-US" sz="1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11</a:t>
                      </a:r>
                      <a:endParaRPr lang="ko-KR" altLang="en-US" sz="1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12</a:t>
                      </a:r>
                      <a:endParaRPr lang="ko-KR" altLang="en-US" sz="1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01876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5640" y="1772816"/>
            <a:ext cx="6379586" cy="3876300"/>
          </a:xfrm>
          <a:prstGeom prst="rect">
            <a:avLst/>
          </a:prstGeom>
        </p:spPr>
      </p:pic>
      <p:sp>
        <p:nvSpPr>
          <p:cNvPr id="3" name="타원 2"/>
          <p:cNvSpPr/>
          <p:nvPr/>
        </p:nvSpPr>
        <p:spPr>
          <a:xfrm>
            <a:off x="5591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1775521" y="271682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519936" y="479096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09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88088" y="271682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판다스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넘파이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맷플롭립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063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맷플롯립</a:t>
            </a:r>
            <a:r>
              <a:rPr lang="en-US" altLang="ko-KR" sz="2300" dirty="0"/>
              <a:t>(</a:t>
            </a:r>
            <a:r>
              <a:rPr lang="en-US" altLang="ko-KR" sz="2300" dirty="0" err="1"/>
              <a:t>Matplotlib</a:t>
            </a:r>
            <a:r>
              <a:rPr lang="en-US" altLang="ko-KR" sz="2300" dirty="0"/>
              <a:t>) – </a:t>
            </a:r>
            <a:r>
              <a:rPr lang="ko-KR" altLang="en-US" sz="2300" dirty="0"/>
              <a:t>서브플롯</a:t>
            </a:r>
          </a:p>
        </p:txBody>
      </p:sp>
    </p:spTree>
    <p:extLst>
      <p:ext uri="{BB962C8B-B14F-4D97-AF65-F5344CB8AC3E}">
        <p14:creationId xmlns:p14="http://schemas.microsoft.com/office/powerpoint/2010/main" val="42861367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5591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1775521" y="271682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519936" y="479096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09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88088" y="271682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판다스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넘파이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맷플롭립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063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맷플롯립</a:t>
            </a:r>
            <a:r>
              <a:rPr lang="en-US" altLang="ko-KR" sz="2300" dirty="0"/>
              <a:t>(</a:t>
            </a:r>
            <a:r>
              <a:rPr lang="en-US" altLang="ko-KR" sz="2300" dirty="0" err="1"/>
              <a:t>Matplotlib</a:t>
            </a:r>
            <a:r>
              <a:rPr lang="en-US" altLang="ko-KR" sz="2300" dirty="0"/>
              <a:t>) – </a:t>
            </a:r>
            <a:r>
              <a:rPr lang="ko-KR" altLang="en-US" sz="2300" dirty="0" err="1"/>
              <a:t>바형</a:t>
            </a:r>
            <a:r>
              <a:rPr lang="ko-KR" altLang="en-US" sz="2300" dirty="0"/>
              <a:t> 그래프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95600" y="1700956"/>
            <a:ext cx="720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ym typeface="Wingdings" panose="05000000000000000000" pitchFamily="2" charset="2"/>
              </a:rPr>
              <a:t>선 그래프는 </a:t>
            </a:r>
            <a:r>
              <a:rPr lang="en-US" altLang="ko-KR" dirty="0">
                <a:sym typeface="Wingdings" panose="05000000000000000000" pitchFamily="2" charset="2"/>
              </a:rPr>
              <a:t>plot()</a:t>
            </a:r>
            <a:r>
              <a:rPr lang="ko-KR" altLang="en-US" dirty="0">
                <a:sym typeface="Wingdings" panose="05000000000000000000" pitchFamily="2" charset="2"/>
              </a:rPr>
              <a:t>을 사용하였고 </a:t>
            </a:r>
            <a:r>
              <a:rPr lang="ko-KR" altLang="en-US" dirty="0" err="1">
                <a:sym typeface="Wingdings" panose="05000000000000000000" pitchFamily="2" charset="2"/>
              </a:rPr>
              <a:t>바형</a:t>
            </a:r>
            <a:r>
              <a:rPr lang="ko-KR" altLang="en-US" dirty="0">
                <a:sym typeface="Wingdings" panose="05000000000000000000" pitchFamily="2" charset="2"/>
              </a:rPr>
              <a:t> 그래프를 출력하기 위해서는 </a:t>
            </a:r>
            <a:r>
              <a:rPr lang="en-US" altLang="ko-KR" dirty="0">
                <a:sym typeface="Wingdings" panose="05000000000000000000" pitchFamily="2" charset="2"/>
              </a:rPr>
              <a:t>bar() </a:t>
            </a:r>
            <a:r>
              <a:rPr lang="ko-KR" altLang="en-US" dirty="0">
                <a:sym typeface="Wingdings" panose="05000000000000000000" pitchFamily="2" charset="2"/>
              </a:rPr>
              <a:t>함수를 사용하면 </a:t>
            </a:r>
            <a:r>
              <a:rPr lang="ko-KR" altLang="en-US" dirty="0" err="1">
                <a:sym typeface="Wingdings" panose="05000000000000000000" pitchFamily="2" charset="2"/>
              </a:rPr>
              <a:t>바형</a:t>
            </a:r>
            <a:r>
              <a:rPr lang="ko-KR" altLang="en-US" dirty="0">
                <a:sym typeface="Wingdings" panose="05000000000000000000" pitchFamily="2" charset="2"/>
              </a:rPr>
              <a:t> 그래프를 출력 할 수 있다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4090" y="2502509"/>
            <a:ext cx="6511812" cy="3551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6205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5591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1775521" y="271682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519936" y="479096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09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88088" y="271682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판다스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넘파이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맷플롭립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063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맷플롯립</a:t>
            </a:r>
            <a:r>
              <a:rPr lang="en-US" altLang="ko-KR" sz="2300" dirty="0"/>
              <a:t>(</a:t>
            </a:r>
            <a:r>
              <a:rPr lang="en-US" altLang="ko-KR" sz="2300" dirty="0" err="1"/>
              <a:t>Matplotlib</a:t>
            </a:r>
            <a:r>
              <a:rPr lang="en-US" altLang="ko-KR" sz="2300" dirty="0"/>
              <a:t>) – </a:t>
            </a:r>
            <a:r>
              <a:rPr lang="ko-KR" altLang="en-US" sz="2300" dirty="0" err="1"/>
              <a:t>바형</a:t>
            </a:r>
            <a:r>
              <a:rPr lang="ko-KR" altLang="en-US" sz="2300" dirty="0"/>
              <a:t> 그래프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95600" y="1700955"/>
            <a:ext cx="720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>
                <a:sym typeface="Wingdings" panose="05000000000000000000" pitchFamily="2" charset="2"/>
              </a:rPr>
              <a:t>xticks</a:t>
            </a:r>
            <a:r>
              <a:rPr lang="en-US" altLang="ko-KR" dirty="0">
                <a:sym typeface="Wingdings" panose="05000000000000000000" pitchFamily="2" charset="2"/>
              </a:rPr>
              <a:t>()</a:t>
            </a:r>
            <a:r>
              <a:rPr lang="ko-KR" altLang="en-US" dirty="0">
                <a:sym typeface="Wingdings" panose="05000000000000000000" pitchFamily="2" charset="2"/>
              </a:rPr>
              <a:t>를 이용하여 </a:t>
            </a:r>
            <a:r>
              <a:rPr lang="en-US" altLang="ko-KR" dirty="0">
                <a:sym typeface="Wingdings" panose="05000000000000000000" pitchFamily="2" charset="2"/>
              </a:rPr>
              <a:t>x</a:t>
            </a:r>
            <a:r>
              <a:rPr lang="ko-KR" altLang="en-US" dirty="0">
                <a:sym typeface="Wingdings" panose="05000000000000000000" pitchFamily="2" charset="2"/>
              </a:rPr>
              <a:t>축의 레이블 값의 변경이 가능하다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0488" y="2270086"/>
            <a:ext cx="6219017" cy="3573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8502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5591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1775521" y="271682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519936" y="479096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09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88088" y="271682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판다스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넘파이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맷플롭립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063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맷플롯립</a:t>
            </a:r>
            <a:r>
              <a:rPr lang="en-US" altLang="ko-KR" sz="2300" dirty="0"/>
              <a:t>(</a:t>
            </a:r>
            <a:r>
              <a:rPr lang="en-US" altLang="ko-KR" sz="2300" dirty="0" err="1"/>
              <a:t>Matplotlib</a:t>
            </a:r>
            <a:r>
              <a:rPr lang="en-US" altLang="ko-KR" sz="2300" dirty="0"/>
              <a:t>) – </a:t>
            </a:r>
            <a:r>
              <a:rPr lang="ko-KR" altLang="en-US" sz="2300" dirty="0" err="1"/>
              <a:t>바형</a:t>
            </a:r>
            <a:r>
              <a:rPr lang="ko-KR" altLang="en-US" sz="2300" dirty="0"/>
              <a:t> 그래프 색상 변경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1545" y="1607546"/>
            <a:ext cx="8002117" cy="4582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4181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5591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1775521" y="271682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519936" y="479096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09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88088" y="271682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판다스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넘파이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맷플롭립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063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맷플롯립</a:t>
            </a:r>
            <a:r>
              <a:rPr lang="en-US" altLang="ko-KR" sz="2300" dirty="0"/>
              <a:t>(</a:t>
            </a:r>
            <a:r>
              <a:rPr lang="en-US" altLang="ko-KR" sz="2300" dirty="0" err="1"/>
              <a:t>Matplotlib</a:t>
            </a:r>
            <a:r>
              <a:rPr lang="en-US" altLang="ko-KR" sz="2300" dirty="0"/>
              <a:t>) – </a:t>
            </a:r>
            <a:r>
              <a:rPr lang="ko-KR" altLang="en-US" sz="2300" dirty="0" err="1"/>
              <a:t>바형</a:t>
            </a:r>
            <a:r>
              <a:rPr lang="ko-KR" altLang="en-US" sz="2300" dirty="0"/>
              <a:t> 그래프 색상 변경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3227" y="1616682"/>
            <a:ext cx="7973538" cy="4582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1355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5591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1775521" y="271682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519936" y="479096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09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88088" y="271682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판다스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넘파이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맷플롭립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063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맷플롯립</a:t>
            </a:r>
            <a:r>
              <a:rPr lang="en-US" altLang="ko-KR" sz="2300" dirty="0"/>
              <a:t>(</a:t>
            </a:r>
            <a:r>
              <a:rPr lang="en-US" altLang="ko-KR" sz="2300" dirty="0" err="1"/>
              <a:t>Matplotlib</a:t>
            </a:r>
            <a:r>
              <a:rPr lang="en-US" altLang="ko-KR" sz="2300" dirty="0"/>
              <a:t>) – </a:t>
            </a:r>
            <a:r>
              <a:rPr lang="ko-KR" altLang="en-US" sz="2300" dirty="0" err="1"/>
              <a:t>바형</a:t>
            </a:r>
            <a:r>
              <a:rPr lang="ko-KR" altLang="en-US" sz="2300" dirty="0"/>
              <a:t> 그래프 폭 지정하기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2902" y="1607547"/>
            <a:ext cx="7973538" cy="4601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2800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5591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1775521" y="271682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519936" y="479096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09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88088" y="271682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판다스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넘파이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맷플롭립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063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맷플롯립</a:t>
            </a:r>
            <a:r>
              <a:rPr lang="en-US" altLang="ko-KR" sz="2300" dirty="0"/>
              <a:t>(</a:t>
            </a:r>
            <a:r>
              <a:rPr lang="en-US" altLang="ko-KR" sz="2300" dirty="0" err="1"/>
              <a:t>Matplotlib</a:t>
            </a:r>
            <a:r>
              <a:rPr lang="en-US" altLang="ko-KR" sz="2300" dirty="0"/>
              <a:t>) – </a:t>
            </a:r>
            <a:r>
              <a:rPr lang="ko-KR" altLang="en-US" sz="2300" dirty="0" err="1"/>
              <a:t>산점도</a:t>
            </a:r>
            <a:endParaRPr lang="ko-KR" altLang="en-US" sz="2300" dirty="0"/>
          </a:p>
        </p:txBody>
      </p:sp>
      <p:sp>
        <p:nvSpPr>
          <p:cNvPr id="10" name="TextBox 9"/>
          <p:cNvSpPr txBox="1"/>
          <p:nvPr/>
        </p:nvSpPr>
        <p:spPr>
          <a:xfrm>
            <a:off x="2495600" y="1700956"/>
            <a:ext cx="720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>
                <a:sym typeface="Wingdings" panose="05000000000000000000" pitchFamily="2" charset="2"/>
              </a:rPr>
              <a:t>산점도를</a:t>
            </a:r>
            <a:r>
              <a:rPr lang="ko-KR" altLang="en-US" dirty="0">
                <a:sym typeface="Wingdings" panose="05000000000000000000" pitchFamily="2" charset="2"/>
              </a:rPr>
              <a:t> 출력하기 위해서는 </a:t>
            </a:r>
            <a:r>
              <a:rPr lang="en-US" altLang="ko-KR" dirty="0" err="1">
                <a:sym typeface="Wingdings" panose="05000000000000000000" pitchFamily="2" charset="2"/>
              </a:rPr>
              <a:t>matplotlib</a:t>
            </a:r>
            <a:r>
              <a:rPr lang="ko-KR" altLang="en-US" dirty="0">
                <a:sym typeface="Wingdings" panose="05000000000000000000" pitchFamily="2" charset="2"/>
              </a:rPr>
              <a:t>의 </a:t>
            </a:r>
            <a:r>
              <a:rPr lang="en-US" altLang="ko-KR" dirty="0">
                <a:sym typeface="Wingdings" panose="05000000000000000000" pitchFamily="2" charset="2"/>
              </a:rPr>
              <a:t>scatter()</a:t>
            </a:r>
            <a:r>
              <a:rPr lang="ko-KR" altLang="en-US" dirty="0">
                <a:sym typeface="Wingdings" panose="05000000000000000000" pitchFamily="2" charset="2"/>
              </a:rPr>
              <a:t>를 사용하면 출력이 가능하다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endParaRPr lang="en-US" altLang="ko-KR" dirty="0">
              <a:sym typeface="Wingdings" panose="05000000000000000000" pitchFamily="2" charset="2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4484" y="2420888"/>
            <a:ext cx="6363033" cy="4013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3765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5591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1775521" y="271682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519936" y="479096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09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88088" y="271682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판다스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넘파이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맷플롭립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063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맷플롯립</a:t>
            </a:r>
            <a:r>
              <a:rPr lang="en-US" altLang="ko-KR" sz="2300" dirty="0"/>
              <a:t>(</a:t>
            </a:r>
            <a:r>
              <a:rPr lang="en-US" altLang="ko-KR" sz="2300" dirty="0" err="1"/>
              <a:t>Matplotlib</a:t>
            </a:r>
            <a:r>
              <a:rPr lang="en-US" altLang="ko-KR" sz="2300" dirty="0"/>
              <a:t>) – </a:t>
            </a:r>
            <a:r>
              <a:rPr lang="ko-KR" altLang="en-US" sz="2300" dirty="0" err="1"/>
              <a:t>산점도</a:t>
            </a:r>
            <a:r>
              <a:rPr lang="ko-KR" altLang="en-US" sz="2300" dirty="0"/>
              <a:t> 크기 및 색상 지정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2587" y="1532013"/>
            <a:ext cx="7254819" cy="4955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938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5591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1775521" y="271682"/>
            <a:ext cx="17716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데이터 분석을 위한 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파이썬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519936" y="479096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09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88088" y="271682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 err="1">
                <a:solidFill>
                  <a:schemeClr val="bg1"/>
                </a:solidFill>
              </a:rPr>
              <a:t>판다스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넘파이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맷플롭립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063552" y="1085737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맷플롯립</a:t>
            </a:r>
            <a:r>
              <a:rPr lang="en-US" altLang="ko-KR" sz="2300" dirty="0"/>
              <a:t>(</a:t>
            </a:r>
            <a:r>
              <a:rPr lang="en-US" altLang="ko-KR" sz="2300" dirty="0" err="1"/>
              <a:t>Matplotlib</a:t>
            </a:r>
            <a:r>
              <a:rPr lang="en-US" altLang="ko-KR" sz="2300" dirty="0"/>
              <a:t>) – </a:t>
            </a:r>
            <a:r>
              <a:rPr lang="ko-KR" altLang="en-US" sz="2300" dirty="0" err="1"/>
              <a:t>산점도</a:t>
            </a:r>
            <a:r>
              <a:rPr lang="ko-KR" altLang="en-US" sz="2300" dirty="0"/>
              <a:t> 투명도와 </a:t>
            </a:r>
            <a:r>
              <a:rPr lang="ko-KR" altLang="en-US" sz="2300" dirty="0" err="1"/>
              <a:t>컬러맵</a:t>
            </a:r>
            <a:r>
              <a:rPr lang="ko-KR" altLang="en-US" sz="2300"/>
              <a:t> 설정</a:t>
            </a:r>
            <a:endParaRPr lang="ko-KR" altLang="en-US" sz="23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2587" y="1532013"/>
            <a:ext cx="7254819" cy="4955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4200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1126</Words>
  <Application>Microsoft Office PowerPoint</Application>
  <PresentationFormat>와이드스크린</PresentationFormat>
  <Paragraphs>313</Paragraphs>
  <Slides>30</Slides>
  <Notes>29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5" baseType="lpstr">
      <vt:lpstr>HY헤드라인M</vt:lpstr>
      <vt:lpstr>맑은 고딕</vt:lpstr>
      <vt:lpstr>Arial</vt:lpstr>
      <vt:lpstr>Wingdings</vt:lpstr>
      <vt:lpstr>Office 테마</vt:lpstr>
      <vt:lpstr>판다스, 데이터프레임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판다스, 데이터프레임</dc:title>
  <dc:creator>student</dc:creator>
  <cp:lastModifiedBy>student</cp:lastModifiedBy>
  <cp:revision>1</cp:revision>
  <dcterms:created xsi:type="dcterms:W3CDTF">2025-09-18T06:21:05Z</dcterms:created>
  <dcterms:modified xsi:type="dcterms:W3CDTF">2025-09-18T06:21:11Z</dcterms:modified>
</cp:coreProperties>
</file>